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75dfd69543f4066" /><Relationship Type="http://schemas.openxmlformats.org/officeDocument/2006/relationships/extended-properties" Target="/docProps/app.xml" Id="R750c4c6ff8cc4645" /><Relationship Type="http://schemas.openxmlformats.org/officeDocument/2006/relationships/officeDocument" Target="/ppt/presentation.xml" Id="R5a276b5500ac448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7deef67902405f"/>
  </p:sldMasterIdLst>
  <p:notesMasterIdLst>
    <p:notesMasterId xmlns:r="http://schemas.openxmlformats.org/officeDocument/2006/relationships" r:id="Rebc0a6b7ffaf4f4c"/>
  </p:notesMasterIdLst>
  <p:sldIdLst>
    <p:sldId xmlns:r="http://schemas.openxmlformats.org/officeDocument/2006/relationships" id="256" r:id="R1f55d73e7bef4446"/>
    <p:sldId xmlns:r="http://schemas.openxmlformats.org/officeDocument/2006/relationships" id="257" r:id="Rfef4d268ce1845ed"/>
    <p:sldId xmlns:r="http://schemas.openxmlformats.org/officeDocument/2006/relationships" id="258" r:id="R87a4d2e49bf14c00"/>
    <p:sldId xmlns:r="http://schemas.openxmlformats.org/officeDocument/2006/relationships" id="259" r:id="R07e6d8885d39476a"/>
    <p:sldId xmlns:r="http://schemas.openxmlformats.org/officeDocument/2006/relationships" id="260" r:id="R5f44008e6e234221"/>
    <p:sldId xmlns:r="http://schemas.openxmlformats.org/officeDocument/2006/relationships" id="261" r:id="Rfd90b1138811437e"/>
    <p:sldId xmlns:r="http://schemas.openxmlformats.org/officeDocument/2006/relationships" id="262" r:id="Re82b2c3e80fb43bd"/>
    <p:sldId xmlns:r="http://schemas.openxmlformats.org/officeDocument/2006/relationships" id="263" r:id="Rbcbcd27de9e74a5e"/>
    <p:sldId xmlns:r="http://schemas.openxmlformats.org/officeDocument/2006/relationships" id="264" r:id="R48c40e83c0704f8f"/>
    <p:sldId xmlns:r="http://schemas.openxmlformats.org/officeDocument/2006/relationships" id="265" r:id="R30512156c7214f26"/>
    <p:sldId xmlns:r="http://schemas.openxmlformats.org/officeDocument/2006/relationships" id="266" r:id="R4451ee41ca0b48b4"/>
    <p:sldId xmlns:r="http://schemas.openxmlformats.org/officeDocument/2006/relationships" id="267" r:id="R4f86a58c025a45b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8a892d613ce491d" /><Relationship Type="http://schemas.openxmlformats.org/officeDocument/2006/relationships/slideMaster" Target="/ppt/slideMasters/slideMaster1.xml" Id="R527deef67902405f" /><Relationship Type="http://schemas.openxmlformats.org/officeDocument/2006/relationships/notesMaster" Target="/ppt/notesMasters/notesMaster1.xml" Id="Rebc0a6b7ffaf4f4c" /><Relationship Type="http://schemas.openxmlformats.org/officeDocument/2006/relationships/presProps" Target="/ppt/presProps.xml" Id="R0edf6a09860d43fa" /><Relationship Type="http://schemas.openxmlformats.org/officeDocument/2006/relationships/tableStyles" Target="/ppt/tableStyles.xml" Id="Ra72197db6de34067" /><Relationship Type="http://schemas.openxmlformats.org/officeDocument/2006/relationships/slide" Target="/ppt/slides/slide1.xml" Id="R1f55d73e7bef4446" /><Relationship Type="http://schemas.openxmlformats.org/officeDocument/2006/relationships/slide" Target="/ppt/slides/slide2.xml" Id="Rfef4d268ce1845ed" /><Relationship Type="http://schemas.openxmlformats.org/officeDocument/2006/relationships/slide" Target="/ppt/slides/slide3.xml" Id="R87a4d2e49bf14c00" /><Relationship Type="http://schemas.openxmlformats.org/officeDocument/2006/relationships/slide" Target="/ppt/slides/slide4.xml" Id="R07e6d8885d39476a" /><Relationship Type="http://schemas.openxmlformats.org/officeDocument/2006/relationships/slide" Target="/ppt/slides/slide5.xml" Id="R5f44008e6e234221" /><Relationship Type="http://schemas.openxmlformats.org/officeDocument/2006/relationships/slide" Target="/ppt/slides/slide6.xml" Id="Rfd90b1138811437e" /><Relationship Type="http://schemas.openxmlformats.org/officeDocument/2006/relationships/slide" Target="/ppt/slides/slide7.xml" Id="Re82b2c3e80fb43bd" /><Relationship Type="http://schemas.openxmlformats.org/officeDocument/2006/relationships/slide" Target="/ppt/slides/slide8.xml" Id="Rbcbcd27de9e74a5e" /><Relationship Type="http://schemas.openxmlformats.org/officeDocument/2006/relationships/slide" Target="/ppt/slides/slide9.xml" Id="R48c40e83c0704f8f" /><Relationship Type="http://schemas.openxmlformats.org/officeDocument/2006/relationships/slide" Target="/ppt/slides/slide10.xml" Id="R30512156c7214f26" /><Relationship Type="http://schemas.openxmlformats.org/officeDocument/2006/relationships/slide" Target="/ppt/slides/slide11.xml" Id="R4451ee41ca0b48b4" /><Relationship Type="http://schemas.openxmlformats.org/officeDocument/2006/relationships/slide" Target="/ppt/slides/slide12.xml" Id="R4f86a58c025a45b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698864b9f0944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b9969280cf4944" /><Relationship Type="http://schemas.openxmlformats.org/officeDocument/2006/relationships/notesMaster" Target="/ppt/notesMasters/notesMaster1.xml" Id="Rf70080eca7fd475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86b1527cab4d58" /><Relationship Type="http://schemas.openxmlformats.org/officeDocument/2006/relationships/notesMaster" Target="/ppt/notesMasters/notesMaster1.xml" Id="Rc5f769df445e430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de2f1f1bba04fd0" /><Relationship Type="http://schemas.openxmlformats.org/officeDocument/2006/relationships/notesMaster" Target="/ppt/notesMasters/notesMaster1.xml" Id="Rd7bc3ce372a8425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ddc502efb104312" /><Relationship Type="http://schemas.openxmlformats.org/officeDocument/2006/relationships/notesMaster" Target="/ppt/notesMasters/notesMaster1.xml" Id="R543f39042e344a6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dbfea9563a44395" /><Relationship Type="http://schemas.openxmlformats.org/officeDocument/2006/relationships/notesMaster" Target="/ppt/notesMasters/notesMaster1.xml" Id="R6422976cea64495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9a86f07cadf4bc7" /><Relationship Type="http://schemas.openxmlformats.org/officeDocument/2006/relationships/notesMaster" Target="/ppt/notesMasters/notesMaster1.xml" Id="R9bec148a6fa8498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7b8ab54e24543bb" /><Relationship Type="http://schemas.openxmlformats.org/officeDocument/2006/relationships/notesMaster" Target="/ppt/notesMasters/notesMaster1.xml" Id="R3cab173a50f245c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310489cb15b4e65" /><Relationship Type="http://schemas.openxmlformats.org/officeDocument/2006/relationships/notesMaster" Target="/ppt/notesMasters/notesMaster1.xml" Id="R33af2a842a0f424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13f2b9f79fa474e" /><Relationship Type="http://schemas.openxmlformats.org/officeDocument/2006/relationships/notesMaster" Target="/ppt/notesMasters/notesMaster1.xml" Id="R2b16092f5f0e423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216fbd9ede84cf1" /><Relationship Type="http://schemas.openxmlformats.org/officeDocument/2006/relationships/notesMaster" Target="/ppt/notesMasters/notesMaster1.xml" Id="Ra05aa7670a2b444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fed8f116fcb4b62" /><Relationship Type="http://schemas.openxmlformats.org/officeDocument/2006/relationships/notesMaster" Target="/ppt/notesMasters/notesMaster1.xml" Id="R7b2b821790874ef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07a4b571f7e4771" /><Relationship Type="http://schemas.openxmlformats.org/officeDocument/2006/relationships/notesMaster" Target="/ppt/notesMasters/notesMaster1.xml" Id="Rad1095711aeb47d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14cfd9e7ce405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859dd08c8a847c8" /><Relationship Type="http://schemas.openxmlformats.org/officeDocument/2006/relationships/slideLayout" Target="/ppt/slideLayouts/slideLayout1.xml" Id="R5c70dbc8faa747e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70dbc8faa747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7f12a9914943dc" /><Relationship Type="http://schemas.openxmlformats.org/officeDocument/2006/relationships/image" Target="/ppt/media/image.jpeg" Id="R27da1f01f92e46fb" /><Relationship Type="http://schemas.openxmlformats.org/officeDocument/2006/relationships/notesSlide" Target="/ppt/notesSlides/notesSlide1.xml" Id="R491b34b349754ca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ed113e8f5e435c" /><Relationship Type="http://schemas.openxmlformats.org/officeDocument/2006/relationships/notesSlide" Target="/ppt/notesSlides/notesSlide2.xml" Id="Re55c6bd441e24d5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20b19d42704e80" /><Relationship Type="http://schemas.openxmlformats.org/officeDocument/2006/relationships/image" Target="/ppt/media/image2.jpeg" Id="Rc1314c4805a34692" /><Relationship Type="http://schemas.openxmlformats.org/officeDocument/2006/relationships/notesSlide" Target="/ppt/notesSlides/notesSlide3.xml" Id="R663d5a1d4c33491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9c10ca20a54213" /><Relationship Type="http://schemas.openxmlformats.org/officeDocument/2006/relationships/image" Target="/ppt/media/image3.jpeg" Id="R0486aef73bb04c44" /><Relationship Type="http://schemas.openxmlformats.org/officeDocument/2006/relationships/notesSlide" Target="/ppt/notesSlides/notesSlide4.xml" Id="Red2e0593e597458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c4e7cb55c24656" /><Relationship Type="http://schemas.openxmlformats.org/officeDocument/2006/relationships/notesSlide" Target="/ppt/notesSlides/notesSlide5.xml" Id="R326193f9dad14f1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25ff4307df431f" /><Relationship Type="http://schemas.openxmlformats.org/officeDocument/2006/relationships/notesSlide" Target="/ppt/notesSlides/notesSlide6.xml" Id="R37016eadad8046e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3bd1778a8c41e1" /><Relationship Type="http://schemas.openxmlformats.org/officeDocument/2006/relationships/notesSlide" Target="/ppt/notesSlides/notesSlide7.xml" Id="Rf48f12d0b7f9477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7ae09696b94af3" /><Relationship Type="http://schemas.openxmlformats.org/officeDocument/2006/relationships/image" Target="/ppt/media/image4.jpeg" Id="Rcfdfbbd2bf9a49c1" /><Relationship Type="http://schemas.openxmlformats.org/officeDocument/2006/relationships/notesSlide" Target="/ppt/notesSlides/notesSlide8.xml" Id="R9f6212acd353434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75ac9c083c4d41" /><Relationship Type="http://schemas.openxmlformats.org/officeDocument/2006/relationships/notesSlide" Target="/ppt/notesSlides/notesSlide9.xml" Id="R9a8d529b532e40e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acdfc7879d4dcb" /><Relationship Type="http://schemas.openxmlformats.org/officeDocument/2006/relationships/notesSlide" Target="/ppt/notesSlides/notesSlide10.xml" Id="Ra11aa61efb564db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aa40db29ff472a" /><Relationship Type="http://schemas.openxmlformats.org/officeDocument/2006/relationships/notesSlide" Target="/ppt/notesSlides/notesSlide11.xml" Id="Rdd903b3252d54f3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d5c12d5cfb4ea3" /><Relationship Type="http://schemas.openxmlformats.org/officeDocument/2006/relationships/notesSlide" Target="/ppt/notesSlides/notesSlide12.xml" Id="Ra97a1585ba194d2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ED09D637-35BF-4BEE-BFF8-6D536D09B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5867400" cy="2495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500"/>
              </a:spcAft>
              <a:buNone/>
              <a:defRPr sz="60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69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PlatePilot</a:t>
            </a:r>
          </a:p>
        </p:txBody>
      </p:sp>
      <p:sp>
        <p:nvSpPr>
          <p:cNvPr id="3" name="Subtitle-4">
            <a:extLst xmlns:a="http://schemas.openxmlformats.org/drawingml/2006/main">
              <a:ext uri="{FF2B5EF4-FFF2-40B4-BE49-F238E27FC236}">
                <a16:creationId xmlns:a16="http://schemas.microsoft.com/office/drawing/2014/main" id="{FB300372-79B5-4CF2-947C-53B41A795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343525"/>
            <a:ext cx="3571875" cy="657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500"/>
              </a:spcAft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54332"/>
                </a:solidFill>
                <a:latin typeface="Arial"/>
                <a:ea typeface="Arial"/>
                <a:cs typeface="Arial"/>
              </a:rPr>
              <a:t>Plan less. Savor more.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500"/>
              </a:spcAft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Discover recipes. Build your week.</a:t>
            </a:r>
          </a:p>
        </p:txBody>
      </p:sp>
      <p:sp>
        <p:nvSpPr>
          <p:cNvPr id="4" name="Subtitle-4">
            <a:extLst xmlns:a="http://schemas.openxmlformats.org/drawingml/2006/main">
              <a:ext uri="{FF2B5EF4-FFF2-40B4-BE49-F238E27FC236}">
                <a16:creationId xmlns:a16="http://schemas.microsoft.com/office/drawing/2014/main" id="{17186480-DFEC-4B4F-9CDF-8FC59706A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35814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500"/>
              </a:spcAft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54332"/>
                </a:solidFill>
                <a:latin typeface="Arial"/>
                <a:ea typeface="Arial"/>
                <a:cs typeface="Arial"/>
              </a:rPr>
              <a:t>CIS 4004 · MERN STACK PROJECT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da1f01f92e46fb"/>
          <a:srcRect xmlns:a="http://schemas.openxmlformats.org/drawingml/2006/main" l="14861" t="0" r="1486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72350" y="0"/>
            <a:ext cx="4819650" cy="6858000"/>
          </a:xfrm>
          <a:prstGeom xmlns:a="http://schemas.openxmlformats.org/drawingml/2006/main" prst="rect">
            <a:avLst/>
          </a:prstGeom>
        </p:spPr>
      </p:pic>
      <p:sp>
        <p:nvSpPr>
          <p:cNvPr id="6" name="PlatePilot brand accent">
            <a:extLst xmlns:a="http://schemas.openxmlformats.org/drawingml/2006/main">
              <a:ext uri="{FF2B5EF4-FFF2-40B4-BE49-F238E27FC236}">
                <a16:creationId xmlns:a16="http://schemas.microsoft.com/office/drawing/2014/main" id="{6A2D9925-6FDC-4104-9201-8A50654DF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74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EC4F7F-81C7-476A-9249-3B4A2B2A4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43675"/>
            <a:ext cx="2238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Recipe imagery via TheMealDB</a:t>
            </a:r>
          </a:p>
        </p:txBody>
      </p:sp>
    </p:spTree>
    <p:extLst>
      <p:ext uri="{BB962C8B-B14F-4D97-AF65-F5344CB8AC3E}">
        <p14:creationId xmlns:p14="http://schemas.microsoft.com/office/powerpoint/2010/main" val="19775459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ntent-Placeholder-15">
            <a:extLst xmlns:a="http://schemas.openxmlformats.org/drawingml/2006/main">
              <a:ext uri="{FF2B5EF4-FFF2-40B4-BE49-F238E27FC236}">
                <a16:creationId xmlns:a16="http://schemas.microsoft.com/office/drawing/2014/main" id="{8275D7CF-F8AB-41B7-9C50-4647B40A8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133975"/>
            <a:ext cx="2600325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500"/>
              </a:spcAft>
              <a:buNone/>
              <a:defRPr sz="1575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Product lead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500"/>
              </a:spcAft>
              <a:buNone/>
              <a:defRPr sz="1575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Scope, story, presentation</a:t>
            </a:r>
          </a:p>
        </p:txBody>
      </p:sp>
      <p:sp>
        <p:nvSpPr>
          <p:cNvPr id="2" name="Slide-Number-Placeholder-3">
            <a:extLst xmlns:a="http://schemas.openxmlformats.org/drawingml/2006/main">
              <a:ext uri="{FF2B5EF4-FFF2-40B4-BE49-F238E27FC236}">
                <a16:creationId xmlns:a16="http://schemas.microsoft.com/office/drawing/2014/main" id="{CA9431C6-2F5C-471A-B014-109624EC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3" name="Title-10">
            <a:extLst xmlns:a="http://schemas.openxmlformats.org/drawingml/2006/main">
              <a:ext uri="{FF2B5EF4-FFF2-40B4-BE49-F238E27FC236}">
                <a16:creationId xmlns:a16="http://schemas.microsoft.com/office/drawing/2014/main" id="{A47D81CD-98DA-4C78-A2FA-4CC3A65B6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500"/>
              </a:spcAft>
              <a:buNone/>
              <a:defRPr sz="2925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One team owns the complete product story.</a:t>
            </a:r>
          </a:p>
        </p:txBody>
      </p:sp>
      <p:sp>
        <p:nvSpPr>
          <p:cNvPr id="4" name="Text-Placeholder-16">
            <a:extLst xmlns:a="http://schemas.openxmlformats.org/drawingml/2006/main">
              <a:ext uri="{FF2B5EF4-FFF2-40B4-BE49-F238E27FC236}">
                <a16:creationId xmlns:a16="http://schemas.microsoft.com/office/drawing/2014/main" id="{3DADFDE7-6AEB-4A02-B21B-3F7DE581B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133975"/>
            <a:ext cx="2600325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500"/>
              </a:spcAft>
              <a:buNone/>
              <a:defRPr sz="18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React lead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500"/>
              </a:spcAft>
              <a:buNone/>
              <a:defRPr sz="18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Interface, responsive UX</a:t>
            </a:r>
          </a:p>
        </p:txBody>
      </p:sp>
      <p:sp>
        <p:nvSpPr>
          <p:cNvPr id="5" name="Content-Placeholder-17">
            <a:extLst xmlns:a="http://schemas.openxmlformats.org/drawingml/2006/main">
              <a:ext uri="{FF2B5EF4-FFF2-40B4-BE49-F238E27FC236}">
                <a16:creationId xmlns:a16="http://schemas.microsoft.com/office/drawing/2014/main" id="{9906F04A-1741-4E4B-AAD1-870E83E5C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133975"/>
            <a:ext cx="2600325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500"/>
              </a:spcAft>
              <a:buNone/>
              <a:defRPr sz="1575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API lead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500"/>
              </a:spcAft>
              <a:buNone/>
              <a:defRPr sz="1575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Express, OAuth, email</a:t>
            </a:r>
          </a:p>
        </p:txBody>
      </p:sp>
      <p:sp>
        <p:nvSpPr>
          <p:cNvPr id="6" name="Text-Placeholder-18">
            <a:extLst xmlns:a="http://schemas.openxmlformats.org/drawingml/2006/main">
              <a:ext uri="{FF2B5EF4-FFF2-40B4-BE49-F238E27FC236}">
                <a16:creationId xmlns:a16="http://schemas.microsoft.com/office/drawing/2014/main" id="{005F79B7-834B-453A-B351-0319EBF72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133975"/>
            <a:ext cx="2600325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500"/>
              </a:spcAft>
              <a:buNone/>
              <a:defRPr sz="18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Data &amp; delivery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500"/>
              </a:spcAft>
              <a:buNone/>
              <a:defRPr sz="18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MongoDB, tests, CI/CD</a:t>
            </a:r>
          </a:p>
        </p:txBody>
      </p:sp>
      <p:sp>
        <p:nvSpPr>
          <p:cNvPr id="7" name="Rounded-Rectangle-2">
            <a:extLst xmlns:a="http://schemas.openxmlformats.org/drawingml/2006/main">
              <a:ext uri="{FF2B5EF4-FFF2-40B4-BE49-F238E27FC236}">
                <a16:creationId xmlns:a16="http://schemas.microsoft.com/office/drawing/2014/main" id="{FE26C624-1FE2-4594-9983-54B73198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38225"/>
            <a:ext cx="2581275" cy="3962400"/>
          </a:xfrm>
          <a:prstGeom xmlns:a="http://schemas.openxmlformats.org/drawingml/2006/main" prst="roundRect">
            <a:avLst>
              <a:gd name="adj" fmla="val 2952"/>
            </a:avLst>
          </a:prstGeom>
          <a:solidFill xmlns:a="http://schemas.openxmlformats.org/drawingml/2006/main">
            <a:schemeClr val="bg2"/>
          </a:solidFill>
        </p:spPr>
      </p:sp>
      <p:sp>
        <p:nvSpPr>
          <p:cNvPr id="8" name="Rounded-Rectangle-4">
            <a:extLst xmlns:a="http://schemas.openxmlformats.org/drawingml/2006/main">
              <a:ext uri="{FF2B5EF4-FFF2-40B4-BE49-F238E27FC236}">
                <a16:creationId xmlns:a16="http://schemas.microsoft.com/office/drawing/2014/main" id="{0695ECAF-CB14-4C58-932D-8CBEE38BA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38225"/>
            <a:ext cx="2600325" cy="3962400"/>
          </a:xfrm>
          <a:prstGeom xmlns:a="http://schemas.openxmlformats.org/drawingml/2006/main" prst="roundRect">
            <a:avLst>
              <a:gd name="adj" fmla="val 2930"/>
            </a:avLst>
          </a:prstGeom>
          <a:solidFill xmlns:a="http://schemas.openxmlformats.org/drawingml/2006/main">
            <a:schemeClr val="bg2"/>
          </a:solidFill>
        </p:spPr>
      </p:sp>
      <p:sp>
        <p:nvSpPr>
          <p:cNvPr id="9" name="Rounded-Rectangle-5">
            <a:extLst xmlns:a="http://schemas.openxmlformats.org/drawingml/2006/main">
              <a:ext uri="{FF2B5EF4-FFF2-40B4-BE49-F238E27FC236}">
                <a16:creationId xmlns:a16="http://schemas.microsoft.com/office/drawing/2014/main" id="{819C963F-DF3D-46A2-A74C-D1AB2A32D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038225"/>
            <a:ext cx="2581275" cy="3962400"/>
          </a:xfrm>
          <a:prstGeom xmlns:a="http://schemas.openxmlformats.org/drawingml/2006/main" prst="roundRect">
            <a:avLst>
              <a:gd name="adj" fmla="val 2952"/>
            </a:avLst>
          </a:prstGeom>
          <a:solidFill xmlns:a="http://schemas.openxmlformats.org/drawingml/2006/main">
            <a:schemeClr val="bg2"/>
          </a:solidFill>
        </p:spPr>
      </p:sp>
      <p:sp>
        <p:nvSpPr>
          <p:cNvPr id="10" name="Rounded-Rectangle-6">
            <a:extLst xmlns:a="http://schemas.openxmlformats.org/drawingml/2006/main">
              <a:ext uri="{FF2B5EF4-FFF2-40B4-BE49-F238E27FC236}">
                <a16:creationId xmlns:a16="http://schemas.microsoft.com/office/drawing/2014/main" id="{033624CF-4A45-42FF-BDFE-28F3C8FF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038225"/>
            <a:ext cx="2600325" cy="3962400"/>
          </a:xfrm>
          <a:prstGeom xmlns:a="http://schemas.openxmlformats.org/drawingml/2006/main" prst="roundRect">
            <a:avLst>
              <a:gd name="adj" fmla="val 2930"/>
            </a:avLst>
          </a:prstGeom>
          <a:solidFill xmlns:a="http://schemas.openxmlformats.org/drawingml/2006/main">
            <a:schemeClr val="bg2"/>
          </a:solidFill>
        </p:spPr>
      </p:sp>
      <p:sp>
        <p:nvSpPr>
          <p:cNvPr id="11" name="Role panel 1">
            <a:extLst xmlns:a="http://schemas.openxmlformats.org/drawingml/2006/main">
              <a:ext uri="{FF2B5EF4-FFF2-40B4-BE49-F238E27FC236}">
                <a16:creationId xmlns:a16="http://schemas.microsoft.com/office/drawing/2014/main" id="{3C46703F-4968-4DB3-9315-CA2EB70B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38225"/>
            <a:ext cx="2581275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3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1D2186-8F01-41AE-99E0-3107C8D82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4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FC19A7-0FE9-4BE7-BBE1-957005895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76700"/>
            <a:ext cx="1952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Product</a:t>
            </a:r>
          </a:p>
        </p:txBody>
      </p:sp>
      <p:sp>
        <p:nvSpPr>
          <p:cNvPr id="14" name="Role panel 2">
            <a:extLst xmlns:a="http://schemas.openxmlformats.org/drawingml/2006/main">
              <a:ext uri="{FF2B5EF4-FFF2-40B4-BE49-F238E27FC236}">
                <a16:creationId xmlns:a16="http://schemas.microsoft.com/office/drawing/2014/main" id="{6D491F6F-9961-4D85-A4FF-7934CBE84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38225"/>
            <a:ext cx="2600325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7FDB74-6848-4B6C-8333-D018F5B3E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381125"/>
            <a:ext cx="104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EE745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EE745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03FFD3-3384-4192-9990-D5B6DFEA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076700"/>
            <a:ext cx="1952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Experience</a:t>
            </a:r>
          </a:p>
        </p:txBody>
      </p:sp>
      <p:sp>
        <p:nvSpPr>
          <p:cNvPr id="17" name="Role panel 3">
            <a:extLst xmlns:a="http://schemas.openxmlformats.org/drawingml/2006/main">
              <a:ext uri="{FF2B5EF4-FFF2-40B4-BE49-F238E27FC236}">
                <a16:creationId xmlns:a16="http://schemas.microsoft.com/office/drawing/2014/main" id="{4F491149-3247-413D-B3EF-FC5D3CE9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038225"/>
            <a:ext cx="2581275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C83362-AC43-472D-8739-DAB18D8DB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381125"/>
            <a:ext cx="104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EE745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EE745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14752B-062D-4614-8E13-E9468AF0C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76700"/>
            <a:ext cx="1952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Platform</a:t>
            </a:r>
          </a:p>
        </p:txBody>
      </p:sp>
      <p:sp>
        <p:nvSpPr>
          <p:cNvPr id="20" name="Role panel 4">
            <a:extLst xmlns:a="http://schemas.openxmlformats.org/drawingml/2006/main">
              <a:ext uri="{FF2B5EF4-FFF2-40B4-BE49-F238E27FC236}">
                <a16:creationId xmlns:a16="http://schemas.microsoft.com/office/drawing/2014/main" id="{5DB46A0E-E311-4578-911F-C35DBC840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038225"/>
            <a:ext cx="2600325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5EF006-15A4-4D09-8AEC-3A1B694AC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1381125"/>
            <a:ext cx="104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EE745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EE745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05C35F-8C83-46A4-B81B-D695241D6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076700"/>
            <a:ext cx="1952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Reliability</a:t>
            </a:r>
          </a:p>
        </p:txBody>
      </p:sp>
      <p:sp>
        <p:nvSpPr>
          <p:cNvPr id="23" name="PlatePilot brand accent">
            <a:extLst xmlns:a="http://schemas.openxmlformats.org/drawingml/2006/main">
              <a:ext uri="{FF2B5EF4-FFF2-40B4-BE49-F238E27FC236}">
                <a16:creationId xmlns:a16="http://schemas.microsoft.com/office/drawing/2014/main" id="{05AD699E-3EB6-45B1-A601-4B76F3C9B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7451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7942180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4-p58">
            <a:extLst xmlns:a="http://schemas.openxmlformats.org/drawingml/2006/main">
              <a:ext uri="{FF2B5EF4-FFF2-40B4-BE49-F238E27FC236}">
                <a16:creationId xmlns:a16="http://schemas.microsoft.com/office/drawing/2014/main" id="{58334977-AF83-4316-8312-25272036E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343525"/>
            <a:ext cx="357187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500"/>
              </a:spcAft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Find inspiration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500"/>
              </a:spcAft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Search scattered recipe sources.</a:t>
            </a:r>
          </a:p>
        </p:txBody>
      </p:sp>
      <p:sp>
        <p:nvSpPr>
          <p:cNvPr id="2" name="Google-Shape-533-p58">
            <a:extLst xmlns:a="http://schemas.openxmlformats.org/drawingml/2006/main">
              <a:ext uri="{FF2B5EF4-FFF2-40B4-BE49-F238E27FC236}">
                <a16:creationId xmlns:a16="http://schemas.microsoft.com/office/drawing/2014/main" id="{3D4E2825-01D7-4280-A423-2B3AA0057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5867400" cy="2676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500"/>
              </a:spcAft>
              <a:buNone/>
              <a:defRPr sz="2925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Dinner starts with three disconnected decisions.</a:t>
            </a:r>
          </a:p>
        </p:txBody>
      </p:sp>
      <p:sp>
        <p:nvSpPr>
          <p:cNvPr id="3" name="Google-Shape-534-p58">
            <a:extLst xmlns:a="http://schemas.openxmlformats.org/drawingml/2006/main">
              <a:ext uri="{FF2B5EF4-FFF2-40B4-BE49-F238E27FC236}">
                <a16:creationId xmlns:a16="http://schemas.microsoft.com/office/drawing/2014/main" id="{DDB2FE42-AAC0-4F85-B880-D542521DB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5343525"/>
            <a:ext cx="357187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500"/>
              </a:spcAft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Make it fit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500"/>
              </a:spcAft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Turn an idea into a realistic week.</a:t>
            </a:r>
          </a:p>
        </p:txBody>
      </p:sp>
      <p:sp>
        <p:nvSpPr>
          <p:cNvPr id="4" name="Rounded-Rectangle-4">
            <a:extLst xmlns:a="http://schemas.openxmlformats.org/drawingml/2006/main">
              <a:ext uri="{FF2B5EF4-FFF2-40B4-BE49-F238E27FC236}">
                <a16:creationId xmlns:a16="http://schemas.microsoft.com/office/drawing/2014/main" id="{5AC567C6-69D3-471A-8BEF-8B5F94F5A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10025"/>
            <a:ext cx="981075" cy="990600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chemeClr val="bg2"/>
          </a:solidFill>
        </p:spPr>
      </p:sp>
      <p:sp>
        <p:nvSpPr>
          <p:cNvPr id="5" name="Rounded-Rectangle-5">
            <a:extLst xmlns:a="http://schemas.openxmlformats.org/drawingml/2006/main">
              <a:ext uri="{FF2B5EF4-FFF2-40B4-BE49-F238E27FC236}">
                <a16:creationId xmlns:a16="http://schemas.microsoft.com/office/drawing/2014/main" id="{B1E97DB0-9C08-406B-B85B-6F967CA08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010025"/>
            <a:ext cx="981075" cy="990600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chemeClr val="bg2"/>
          </a:solidFill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314c4805a34692"/>
          <a:srcRect xmlns:a="http://schemas.openxmlformats.org/drawingml/2006/main" l="17969" t="0" r="1796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86700" y="390525"/>
            <a:ext cx="3905250" cy="6096000"/>
          </a:xfrm>
          <a:prstGeom xmlns:a="http://schemas.openxmlformats.org/drawingml/2006/main" prst="rect">
            <a:avLst/>
          </a:prstGeom>
        </p:spPr>
      </p:pic>
      <p:sp>
        <p:nvSpPr>
          <p:cNvPr id="8" name="Problem one marker">
            <a:extLst xmlns:a="http://schemas.openxmlformats.org/drawingml/2006/main">
              <a:ext uri="{FF2B5EF4-FFF2-40B4-BE49-F238E27FC236}">
                <a16:creationId xmlns:a16="http://schemas.microsoft.com/office/drawing/2014/main" id="{7A5BB622-7B92-4738-A3AF-3CC9D5C3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10025"/>
            <a:ext cx="9810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74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roblem two marker">
            <a:extLst xmlns:a="http://schemas.openxmlformats.org/drawingml/2006/main">
              <a:ext uri="{FF2B5EF4-FFF2-40B4-BE49-F238E27FC236}">
                <a16:creationId xmlns:a16="http://schemas.microsoft.com/office/drawing/2014/main" id="{0D4B96EC-37F9-4D43-B111-79E86EB6A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010025"/>
            <a:ext cx="9810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3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1EDC13-77C7-4D67-9BEC-340F576E2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43675"/>
            <a:ext cx="2238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Recipe imagery via TheMealDB</a:t>
            </a:r>
          </a:p>
        </p:txBody>
      </p:sp>
    </p:spTree>
    <p:extLst>
      <p:ext uri="{BB962C8B-B14F-4D97-AF65-F5344CB8AC3E}">
        <p14:creationId xmlns:p14="http://schemas.microsoft.com/office/powerpoint/2010/main" val="20931234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920DE9A4-8649-49A3-BC28-E0185AA8C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5867400" cy="2495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500"/>
              </a:spcAft>
              <a:buNone/>
              <a:defRPr sz="60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56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One place to discover, choose, and plan.</a:t>
            </a:r>
          </a:p>
        </p:txBody>
      </p:sp>
      <p:sp>
        <p:nvSpPr>
          <p:cNvPr id="3" name="Subtitle-4">
            <a:extLst xmlns:a="http://schemas.openxmlformats.org/drawingml/2006/main">
              <a:ext uri="{FF2B5EF4-FFF2-40B4-BE49-F238E27FC236}">
                <a16:creationId xmlns:a16="http://schemas.microsoft.com/office/drawing/2014/main" id="{3A2B0EA5-BD83-4D0D-85E1-0A176F1CE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343525"/>
            <a:ext cx="3571875" cy="657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500"/>
              </a:spcAft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54332"/>
                </a:solidFill>
                <a:latin typeface="Arial"/>
                <a:ea typeface="Arial"/>
                <a:cs typeface="Arial"/>
              </a:rPr>
              <a:t>Live recipes become a useful weekly plan.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500"/>
              </a:spcAft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Every choice stays attached to the user.</a:t>
            </a:r>
          </a:p>
        </p:txBody>
      </p:sp>
      <p:sp>
        <p:nvSpPr>
          <p:cNvPr id="4" name="Subtitle-4">
            <a:extLst xmlns:a="http://schemas.openxmlformats.org/drawingml/2006/main">
              <a:ext uri="{FF2B5EF4-FFF2-40B4-BE49-F238E27FC236}">
                <a16:creationId xmlns:a16="http://schemas.microsoft.com/office/drawing/2014/main" id="{B4767C4E-0FEB-437E-8D30-407CA2150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35814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500"/>
              </a:spcAft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EE7451"/>
                </a:solidFill>
                <a:latin typeface="Arial"/>
                <a:ea typeface="Arial"/>
                <a:cs typeface="Arial"/>
              </a:rPr>
              <a:t>THE PRODUCT</a:t>
            </a:r>
          </a:p>
        </p:txBody>
      </p:sp>
      <p:sp>
        <p:nvSpPr>
          <p:cNvPr id="5" name="Subtitle-4">
            <a:extLst xmlns:a="http://schemas.openxmlformats.org/drawingml/2006/main">
              <a:ext uri="{FF2B5EF4-FFF2-40B4-BE49-F238E27FC236}">
                <a16:creationId xmlns:a16="http://schemas.microsoft.com/office/drawing/2014/main" id="{05371A5C-5905-4908-83F4-CE47C69C6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90525"/>
            <a:ext cx="195262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500"/>
              </a:spcAft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54332"/>
                </a:solidFill>
                <a:latin typeface="Arial"/>
                <a:ea typeface="Arial"/>
                <a:cs typeface="Arial"/>
              </a:rPr>
              <a:t>PLATEPILOT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86aef73bb04c44"/>
          <a:srcRect xmlns:a="http://schemas.openxmlformats.org/drawingml/2006/main" l="17969" t="0" r="1796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86700" y="390525"/>
            <a:ext cx="3905250" cy="6096000"/>
          </a:xfrm>
          <a:prstGeom xmlns:a="http://schemas.openxmlformats.org/drawingml/2006/main" prst="rect">
            <a:avLst/>
          </a:prstGeom>
        </p:spPr>
      </p:pic>
      <p:sp>
        <p:nvSpPr>
          <p:cNvPr id="7" name="PlatePilot brand accent">
            <a:extLst xmlns:a="http://schemas.openxmlformats.org/drawingml/2006/main">
              <a:ext uri="{FF2B5EF4-FFF2-40B4-BE49-F238E27FC236}">
                <a16:creationId xmlns:a16="http://schemas.microsoft.com/office/drawing/2014/main" id="{73DC2C26-8C3B-4B62-BEE8-C099B3306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74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CE27A2-5474-47E1-8292-3D2DDCBD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43675"/>
            <a:ext cx="2238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Recipe imagery via TheMealDB</a:t>
            </a:r>
          </a:p>
        </p:txBody>
      </p:sp>
    </p:spTree>
    <p:extLst>
      <p:ext uri="{BB962C8B-B14F-4D97-AF65-F5344CB8AC3E}">
        <p14:creationId xmlns:p14="http://schemas.microsoft.com/office/powerpoint/2010/main" val="7161561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">
            <a:extLst xmlns:a="http://schemas.openxmlformats.org/drawingml/2006/main">
              <a:ext uri="{FF2B5EF4-FFF2-40B4-BE49-F238E27FC236}">
                <a16:creationId xmlns:a16="http://schemas.microsoft.com/office/drawing/2014/main" id="{1951D4D9-EF44-4983-B8E3-1070C961A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ctr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  <p:sp>
        <p:nvSpPr>
          <p:cNvPr id="2" name="Google-Shape-533-p58">
            <a:extLst xmlns:a="http://schemas.openxmlformats.org/drawingml/2006/main">
              <a:ext uri="{FF2B5EF4-FFF2-40B4-BE49-F238E27FC236}">
                <a16:creationId xmlns:a16="http://schemas.microsoft.com/office/drawing/2014/main" id="{095D1B01-EC05-430B-81CC-5F78B8C6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500"/>
              </a:spcAft>
              <a:buNone/>
              <a:defRPr sz="2925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 recipe becomes a plan in four quick moves.</a:t>
            </a:r>
          </a:p>
        </p:txBody>
      </p:sp>
      <p:sp>
        <p:nvSpPr>
          <p:cNvPr id="3" name="Rounded-Rectangle-6">
            <a:extLst xmlns:a="http://schemas.openxmlformats.org/drawingml/2006/main">
              <a:ext uri="{FF2B5EF4-FFF2-40B4-BE49-F238E27FC236}">
                <a16:creationId xmlns:a16="http://schemas.microsoft.com/office/drawing/2014/main" id="{754679A8-459C-4CD0-9474-11548D342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71725"/>
            <a:ext cx="5534025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chemeClr val="bg2"/>
          </a:solidFill>
        </p:spPr>
      </p:sp>
      <p:sp>
        <p:nvSpPr>
          <p:cNvPr id="4" name="Content-Placeholder-10">
            <a:extLst xmlns:a="http://schemas.openxmlformats.org/drawingml/2006/main">
              <a:ext uri="{FF2B5EF4-FFF2-40B4-BE49-F238E27FC236}">
                <a16:creationId xmlns:a16="http://schemas.microsoft.com/office/drawing/2014/main" id="{D8D47EF4-2FAF-43BB-8DC0-2EF2BF595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667000"/>
            <a:ext cx="49911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500"/>
              </a:spcAft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02 · Discover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500"/>
              </a:spcAft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Search live recipes by meal or cuisine.</a:t>
            </a:r>
          </a:p>
        </p:txBody>
      </p:sp>
      <p:sp>
        <p:nvSpPr>
          <p:cNvPr id="5" name="Rounded-Rectangle-8">
            <a:extLst xmlns:a="http://schemas.openxmlformats.org/drawingml/2006/main">
              <a:ext uri="{FF2B5EF4-FFF2-40B4-BE49-F238E27FC236}">
                <a16:creationId xmlns:a16="http://schemas.microsoft.com/office/drawing/2014/main" id="{878AA227-3C87-4279-AE7E-EA42AE4E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371725"/>
            <a:ext cx="5534025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chemeClr val="bg2"/>
          </a:solidFill>
        </p:spPr>
      </p:sp>
      <p:sp>
        <p:nvSpPr>
          <p:cNvPr id="6" name="Content-Placeholder-10">
            <a:extLst xmlns:a="http://schemas.openxmlformats.org/drawingml/2006/main">
              <a:ext uri="{FF2B5EF4-FFF2-40B4-BE49-F238E27FC236}">
                <a16:creationId xmlns:a16="http://schemas.microsoft.com/office/drawing/2014/main" id="{1E7BFF0A-3350-4910-A37A-2BBE90EE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67000"/>
            <a:ext cx="49911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500"/>
              </a:spcAft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01 · Sign in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500"/>
              </a:spcAft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Google OAuth or a verified email account.</a:t>
            </a:r>
          </a:p>
        </p:txBody>
      </p:sp>
      <p:sp>
        <p:nvSpPr>
          <p:cNvPr id="7" name="Rounded-Rectangle-1">
            <a:extLst xmlns:a="http://schemas.openxmlformats.org/drawingml/2006/main">
              <a:ext uri="{FF2B5EF4-FFF2-40B4-BE49-F238E27FC236}">
                <a16:creationId xmlns:a16="http://schemas.microsoft.com/office/drawing/2014/main" id="{D2358A60-A6DA-4FFC-8E9B-4D59B0408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371975"/>
            <a:ext cx="5534025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chemeClr val="bg2"/>
          </a:solidFill>
        </p:spPr>
      </p:sp>
      <p:sp>
        <p:nvSpPr>
          <p:cNvPr id="8" name="Content-Placeholder-10">
            <a:extLst xmlns:a="http://schemas.openxmlformats.org/drawingml/2006/main">
              <a:ext uri="{FF2B5EF4-FFF2-40B4-BE49-F238E27FC236}">
                <a16:creationId xmlns:a16="http://schemas.microsoft.com/office/drawing/2014/main" id="{AFD67193-FE2A-433C-AD91-7BA9F2E5A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667250"/>
            <a:ext cx="49911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500"/>
              </a:spcAft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04 · Plan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500"/>
              </a:spcAft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Assign, replace, or remove any weekday.</a:t>
            </a:r>
          </a:p>
        </p:txBody>
      </p:sp>
      <p:sp>
        <p:nvSpPr>
          <p:cNvPr id="9" name="Rounded-Rectangle-3">
            <a:extLst xmlns:a="http://schemas.openxmlformats.org/drawingml/2006/main">
              <a:ext uri="{FF2B5EF4-FFF2-40B4-BE49-F238E27FC236}">
                <a16:creationId xmlns:a16="http://schemas.microsoft.com/office/drawing/2014/main" id="{62058BEB-8963-4C39-A5F4-2AF0FC83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371975"/>
            <a:ext cx="5534025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chemeClr val="bg2"/>
          </a:solidFill>
        </p:spPr>
      </p:sp>
      <p:sp>
        <p:nvSpPr>
          <p:cNvPr id="10" name="Content-Placeholder-10">
            <a:extLst xmlns:a="http://schemas.openxmlformats.org/drawingml/2006/main">
              <a:ext uri="{FF2B5EF4-FFF2-40B4-BE49-F238E27FC236}">
                <a16:creationId xmlns:a16="http://schemas.microsoft.com/office/drawing/2014/main" id="{F98FF6B3-86D5-4BA8-8D16-692C610CE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67250"/>
            <a:ext cx="49911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500"/>
              </a:spcAft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03 · Choose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500"/>
              </a:spcAft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Inspect ingredients and directions.</a:t>
            </a:r>
          </a:p>
        </p:txBody>
      </p:sp>
      <p:sp>
        <p:nvSpPr>
          <p:cNvPr id="11" name="PlatePilot brand accent">
            <a:extLst xmlns:a="http://schemas.openxmlformats.org/drawingml/2006/main">
              <a:ext uri="{FF2B5EF4-FFF2-40B4-BE49-F238E27FC236}">
                <a16:creationId xmlns:a16="http://schemas.microsoft.com/office/drawing/2014/main" id="{A311B8A5-1256-494E-B99B-1520E44E2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7451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951004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object-3">
            <a:extLst xmlns:a="http://schemas.openxmlformats.org/drawingml/2006/main">
              <a:ext uri="{FF2B5EF4-FFF2-40B4-BE49-F238E27FC236}">
                <a16:creationId xmlns:a16="http://schemas.microsoft.com/office/drawing/2014/main" id="{F86E0540-F9DE-4699-82F8-973CE0B77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0"/>
            <a:ext cx="62579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</p:spPr>
      </p:sp>
      <p:sp>
        <p:nvSpPr>
          <p:cNvPr id="2" name="Google-Shape-532-p58">
            <a:extLst xmlns:a="http://schemas.openxmlformats.org/drawingml/2006/main">
              <a:ext uri="{FF2B5EF4-FFF2-40B4-BE49-F238E27FC236}">
                <a16:creationId xmlns:a16="http://schemas.microsoft.com/office/drawing/2014/main" id="{BFB46D89-D34B-48ED-B10D-A3850B70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ctr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  <p:sp>
        <p:nvSpPr>
          <p:cNvPr id="3" name="Google-Shape-533-p58">
            <a:extLst xmlns:a="http://schemas.openxmlformats.org/drawingml/2006/main">
              <a:ext uri="{FF2B5EF4-FFF2-40B4-BE49-F238E27FC236}">
                <a16:creationId xmlns:a16="http://schemas.microsoft.com/office/drawing/2014/main" id="{81903453-F455-43E7-9B79-8FBB42BC9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5534025" cy="2676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500"/>
              </a:spcAft>
              <a:buNone/>
              <a:defRPr sz="2925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React turns intent into asynchronous JSON requests.</a:t>
            </a:r>
          </a:p>
        </p:txBody>
      </p:sp>
      <p:sp>
        <p:nvSpPr>
          <p:cNvPr id="4" name="Google-Shape-533-p58">
            <a:extLst xmlns:a="http://schemas.openxmlformats.org/drawingml/2006/main">
              <a:ext uri="{FF2B5EF4-FFF2-40B4-BE49-F238E27FC236}">
                <a16:creationId xmlns:a16="http://schemas.microsoft.com/office/drawing/2014/main" id="{2CC90431-B7E2-4CB0-B056-A48F7B09F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295775"/>
            <a:ext cx="5534025" cy="2114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500"/>
              </a:spcAft>
              <a:buNone/>
              <a:defRPr sz="2925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Express coordinates identity, recipes, and persistence.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FD058B-9377-4572-81B2-663EA9805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5280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E745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E7451"/>
                </a:solidFill>
                <a:latin typeface="Arial"/>
                <a:ea typeface="Arial"/>
                <a:cs typeface="Arial"/>
              </a:rPr>
              <a:t>CLIENT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5D4DF6-8D50-469A-96A4-5711567E8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62375"/>
            <a:ext cx="4762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React + Vite</a:t>
            </a:r>
          </a:p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Responsive AJAX interface</a:t>
            </a:r>
          </a:p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JWT stored for protected requests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4B5AD6-74A2-42F0-B3DB-418F292C5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76200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E745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E7451"/>
                </a:solidFill>
                <a:latin typeface="Arial"/>
                <a:ea typeface="Arial"/>
                <a:cs typeface="Arial"/>
              </a:rPr>
              <a:t>SERVER +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E7B5A9-21FF-4F02-8ACD-79BFD6F80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285875"/>
            <a:ext cx="48577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Node + Express</a:t>
            </a:r>
          </a:p>
          <a:p xmlns:a="http://schemas.openxmlformats.org/drawingml/2006/main">
            <a:pPr algn="l">
              <a:defRPr sz="17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↳ MongoDB stores users and weekly plans</a:t>
            </a:r>
          </a:p>
          <a:p xmlns:a="http://schemas.openxmlformats.org/drawingml/2006/main">
            <a:pPr algn="l">
              <a:defRPr sz="17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↳ TheMealDB supplies normalized recipes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2DC617-51F6-4791-9768-C825F46DD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23850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433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54332"/>
                </a:solidFill>
                <a:latin typeface="Arial"/>
                <a:ea typeface="Arial"/>
                <a:cs typeface="Arial"/>
              </a:rPr>
              <a:t>JSON crosses every boundary.</a:t>
            </a:r>
          </a:p>
        </p:txBody>
      </p:sp>
      <p:sp>
        <p:nvSpPr>
          <p:cNvPr id="10" name="PlatePilot brand accent">
            <a:extLst xmlns:a="http://schemas.openxmlformats.org/drawingml/2006/main">
              <a:ext uri="{FF2B5EF4-FFF2-40B4-BE49-F238E27FC236}">
                <a16:creationId xmlns:a16="http://schemas.microsoft.com/office/drawing/2014/main" id="{D40A0C75-2A53-4BF6-AACF-B704B3BAF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7451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193657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-Placeholder-3">
            <a:extLst xmlns:a="http://schemas.openxmlformats.org/drawingml/2006/main">
              <a:ext uri="{FF2B5EF4-FFF2-40B4-BE49-F238E27FC236}">
                <a16:creationId xmlns:a16="http://schemas.microsoft.com/office/drawing/2014/main" id="{F48D8DCC-AF35-49E7-B754-EC7607E9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t>07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1BE78F6A-92A0-4F6D-AB4C-525C85D68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5534025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763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500"/>
              </a:spcAft>
              <a:buNone/>
              <a:defRPr sz="2925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Every course requirement maps to a working feature.</a:t>
            </a:r>
          </a:p>
        </p:txBody>
      </p:sp>
      <p:sp>
        <p:nvSpPr>
          <p:cNvPr id="3" name="Rounded-Rectangle-2">
            <a:extLst xmlns:a="http://schemas.openxmlformats.org/drawingml/2006/main">
              <a:ext uri="{FF2B5EF4-FFF2-40B4-BE49-F238E27FC236}">
                <a16:creationId xmlns:a16="http://schemas.microsoft.com/office/drawing/2014/main" id="{AC3A8E40-D0F6-47D5-9D3E-B7D62332D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28825"/>
            <a:ext cx="2581275" cy="2657475"/>
          </a:xfrm>
          <a:prstGeom xmlns:a="http://schemas.openxmlformats.org/drawingml/2006/main" prst="roundRect">
            <a:avLst>
              <a:gd name="adj" fmla="val 2952"/>
            </a:avLst>
          </a:prstGeom>
          <a:solidFill xmlns:a="http://schemas.openxmlformats.org/drawingml/2006/main">
            <a:schemeClr val="bg2"/>
          </a:solidFill>
        </p:spPr>
      </p:sp>
      <p:sp>
        <p:nvSpPr>
          <p:cNvPr id="4" name="Rounded-Rectangle-1">
            <a:extLst xmlns:a="http://schemas.openxmlformats.org/drawingml/2006/main">
              <a:ext uri="{FF2B5EF4-FFF2-40B4-BE49-F238E27FC236}">
                <a16:creationId xmlns:a16="http://schemas.microsoft.com/office/drawing/2014/main" id="{1EBA7D58-C84E-4F8F-8A9D-7933D58A5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81625"/>
            <a:ext cx="121920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chemeClr val="bg2"/>
          </a:solidFill>
        </p:spPr>
      </p:sp>
      <p:sp>
        <p:nvSpPr>
          <p:cNvPr id="5" name="Content-Placeholder-9">
            <a:extLst xmlns:a="http://schemas.openxmlformats.org/drawingml/2006/main">
              <a:ext uri="{FF2B5EF4-FFF2-40B4-BE49-F238E27FC236}">
                <a16:creationId xmlns:a16="http://schemas.microsoft.com/office/drawing/2014/main" id="{55483CF6-E47F-455B-AA6B-25B6D6B38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47900"/>
            <a:ext cx="2133600" cy="904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500"/>
              </a:spcAft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75" b="1">
                <a:solidFill>
                  <a:srgbClr val="EE7451"/>
                </a:solidFill>
                <a:latin typeface="Arial"/>
                <a:ea typeface="Arial"/>
                <a:cs typeface="Arial"/>
              </a:rPr>
              <a:t>OAuth</a:t>
            </a:r>
          </a:p>
        </p:txBody>
      </p:sp>
      <p:sp>
        <p:nvSpPr>
          <p:cNvPr id="6" name="Content-Placeholder-15">
            <a:extLst xmlns:a="http://schemas.openxmlformats.org/drawingml/2006/main">
              <a:ext uri="{FF2B5EF4-FFF2-40B4-BE49-F238E27FC236}">
                <a16:creationId xmlns:a16="http://schemas.microsoft.com/office/drawing/2014/main" id="{3DCC9CC8-A81E-425C-AECC-0B1846856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743325"/>
            <a:ext cx="2066925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500"/>
              </a:spcAft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Google credential verification</a:t>
            </a:r>
          </a:p>
        </p:txBody>
      </p:sp>
      <p:sp>
        <p:nvSpPr>
          <p:cNvPr id="7" name="Rounded-Rectangle-33">
            <a:extLst xmlns:a="http://schemas.openxmlformats.org/drawingml/2006/main">
              <a:ext uri="{FF2B5EF4-FFF2-40B4-BE49-F238E27FC236}">
                <a16:creationId xmlns:a16="http://schemas.microsoft.com/office/drawing/2014/main" id="{94B7C3CC-4466-43BA-AF8A-F9CA1431A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028825"/>
            <a:ext cx="2581275" cy="2657475"/>
          </a:xfrm>
          <a:prstGeom xmlns:a="http://schemas.openxmlformats.org/drawingml/2006/main" prst="roundRect">
            <a:avLst>
              <a:gd name="adj" fmla="val 2952"/>
            </a:avLst>
          </a:prstGeom>
          <a:solidFill xmlns:a="http://schemas.openxmlformats.org/drawingml/2006/main">
            <a:schemeClr val="bg2"/>
          </a:solidFill>
        </p:spPr>
      </p:sp>
      <p:sp>
        <p:nvSpPr>
          <p:cNvPr id="8" name="Content-Placeholder-9">
            <a:extLst xmlns:a="http://schemas.openxmlformats.org/drawingml/2006/main">
              <a:ext uri="{FF2B5EF4-FFF2-40B4-BE49-F238E27FC236}">
                <a16:creationId xmlns:a16="http://schemas.microsoft.com/office/drawing/2014/main" id="{3BE13C6F-27BD-4D82-BB02-E4F0310A2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247900"/>
            <a:ext cx="2133600" cy="904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500"/>
              </a:spcAft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75" b="1">
                <a:solidFill>
                  <a:srgbClr val="EE7451"/>
                </a:solidFill>
                <a:latin typeface="Arial"/>
                <a:ea typeface="Arial"/>
                <a:cs typeface="Arial"/>
              </a:rPr>
              <a:t>Email</a:t>
            </a:r>
          </a:p>
        </p:txBody>
      </p:sp>
      <p:sp>
        <p:nvSpPr>
          <p:cNvPr id="9" name="Content-Placeholder-15">
            <a:extLst xmlns:a="http://schemas.openxmlformats.org/drawingml/2006/main">
              <a:ext uri="{FF2B5EF4-FFF2-40B4-BE49-F238E27FC236}">
                <a16:creationId xmlns:a16="http://schemas.microsoft.com/office/drawing/2014/main" id="{2AE1340B-DCD9-454C-9BD7-6AE987CAC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743325"/>
            <a:ext cx="2066925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500"/>
              </a:spcAft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Expiring, hashed verification token</a:t>
            </a:r>
          </a:p>
        </p:txBody>
      </p:sp>
      <p:sp>
        <p:nvSpPr>
          <p:cNvPr id="10" name="Rounded-Rectangle-36">
            <a:extLst xmlns:a="http://schemas.openxmlformats.org/drawingml/2006/main">
              <a:ext uri="{FF2B5EF4-FFF2-40B4-BE49-F238E27FC236}">
                <a16:creationId xmlns:a16="http://schemas.microsoft.com/office/drawing/2014/main" id="{BF4CAB35-7F00-4874-AB40-2B8D1BA95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28825"/>
            <a:ext cx="2581275" cy="2657475"/>
          </a:xfrm>
          <a:prstGeom xmlns:a="http://schemas.openxmlformats.org/drawingml/2006/main" prst="roundRect">
            <a:avLst>
              <a:gd name="adj" fmla="val 2952"/>
            </a:avLst>
          </a:prstGeom>
          <a:solidFill xmlns:a="http://schemas.openxmlformats.org/drawingml/2006/main">
            <a:schemeClr val="bg2"/>
          </a:solidFill>
        </p:spPr>
      </p:sp>
      <p:sp>
        <p:nvSpPr>
          <p:cNvPr id="11" name="Content-Placeholder-9">
            <a:extLst xmlns:a="http://schemas.openxmlformats.org/drawingml/2006/main">
              <a:ext uri="{FF2B5EF4-FFF2-40B4-BE49-F238E27FC236}">
                <a16:creationId xmlns:a16="http://schemas.microsoft.com/office/drawing/2014/main" id="{97F95483-8902-4C5C-BA9F-0E9F77159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247900"/>
            <a:ext cx="2133600" cy="904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500"/>
              </a:spcAft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75" b="1">
                <a:solidFill>
                  <a:srgbClr val="EE7451"/>
                </a:solidFill>
                <a:latin typeface="Arial"/>
                <a:ea typeface="Arial"/>
                <a:cs typeface="Arial"/>
              </a:rPr>
              <a:t>Tests</a:t>
            </a:r>
          </a:p>
        </p:txBody>
      </p:sp>
      <p:sp>
        <p:nvSpPr>
          <p:cNvPr id="12" name="Content-Placeholder-15">
            <a:extLst xmlns:a="http://schemas.openxmlformats.org/drawingml/2006/main">
              <a:ext uri="{FF2B5EF4-FFF2-40B4-BE49-F238E27FC236}">
                <a16:creationId xmlns:a16="http://schemas.microsoft.com/office/drawing/2014/main" id="{D09F358E-69B8-4D79-A108-5CB177673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43325"/>
            <a:ext cx="2066925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500"/>
              </a:spcAft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Jest + Supertest API coverage</a:t>
            </a:r>
          </a:p>
        </p:txBody>
      </p:sp>
      <p:sp>
        <p:nvSpPr>
          <p:cNvPr id="13" name="Rounded-Rectangle-39">
            <a:extLst xmlns:a="http://schemas.openxmlformats.org/drawingml/2006/main">
              <a:ext uri="{FF2B5EF4-FFF2-40B4-BE49-F238E27FC236}">
                <a16:creationId xmlns:a16="http://schemas.microsoft.com/office/drawing/2014/main" id="{822B6D9E-05A9-4EE9-896D-166B28827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028825"/>
            <a:ext cx="2581275" cy="2657475"/>
          </a:xfrm>
          <a:prstGeom xmlns:a="http://schemas.openxmlformats.org/drawingml/2006/main" prst="roundRect">
            <a:avLst>
              <a:gd name="adj" fmla="val 2952"/>
            </a:avLst>
          </a:prstGeom>
          <a:solidFill xmlns:a="http://schemas.openxmlformats.org/drawingml/2006/main">
            <a:schemeClr val="bg2"/>
          </a:solidFill>
        </p:spPr>
      </p:sp>
      <p:sp>
        <p:nvSpPr>
          <p:cNvPr id="14" name="Content-Placeholder-9">
            <a:extLst xmlns:a="http://schemas.openxmlformats.org/drawingml/2006/main">
              <a:ext uri="{FF2B5EF4-FFF2-40B4-BE49-F238E27FC236}">
                <a16:creationId xmlns:a16="http://schemas.microsoft.com/office/drawing/2014/main" id="{E1D53B75-72B4-4ACA-8B23-5AC59F8B3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247900"/>
            <a:ext cx="2133600" cy="904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500"/>
              </a:spcAft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75" b="1">
                <a:solidFill>
                  <a:srgbClr val="EE7451"/>
                </a:solidFill>
                <a:latin typeface="Arial"/>
                <a:ea typeface="Arial"/>
                <a:cs typeface="Arial"/>
              </a:rPr>
              <a:t>CI/CD</a:t>
            </a:r>
          </a:p>
        </p:txBody>
      </p:sp>
      <p:sp>
        <p:nvSpPr>
          <p:cNvPr id="15" name="Content-Placeholder-15">
            <a:extLst xmlns:a="http://schemas.openxmlformats.org/drawingml/2006/main">
              <a:ext uri="{FF2B5EF4-FFF2-40B4-BE49-F238E27FC236}">
                <a16:creationId xmlns:a16="http://schemas.microsoft.com/office/drawing/2014/main" id="{7F49B7C0-9912-44A1-B6F7-EF9460EED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743325"/>
            <a:ext cx="2066925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500"/>
              </a:spcAft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Deploy after a passing main push</a:t>
            </a:r>
          </a:p>
        </p:txBody>
      </p:sp>
      <p:sp>
        <p:nvSpPr>
          <p:cNvPr id="16" name="Content-Placeholder-2">
            <a:extLst xmlns:a="http://schemas.openxmlformats.org/drawingml/2006/main">
              <a:ext uri="{FF2B5EF4-FFF2-40B4-BE49-F238E27FC236}">
                <a16:creationId xmlns:a16="http://schemas.microsoft.com/office/drawing/2014/main" id="{305DB79F-16B0-4D6B-8B04-4BBDC9B5D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00050"/>
            <a:ext cx="55435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500"/>
              </a:spcAft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MERN is the foundation. Security, quality, and delivery are built around it.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800DEB-1C02-4F50-9D78-9FA4C4C6C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5787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43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4332"/>
                </a:solidFill>
                <a:latin typeface="Arial"/>
                <a:ea typeface="Arial"/>
                <a:cs typeface="Arial"/>
              </a:rPr>
              <a:t>MONGODB   •   EXPRESS   •   REACT   •   NODE   •   JSON   •   THEMEALDB   •   HTTPS</a:t>
            </a:r>
          </a:p>
        </p:txBody>
      </p:sp>
      <p:sp>
        <p:nvSpPr>
          <p:cNvPr id="18" name="PlatePilot brand accent">
            <a:extLst xmlns:a="http://schemas.openxmlformats.org/drawingml/2006/main">
              <a:ext uri="{FF2B5EF4-FFF2-40B4-BE49-F238E27FC236}">
                <a16:creationId xmlns:a16="http://schemas.microsoft.com/office/drawing/2014/main" id="{DA6C20C9-30BB-445C-9694-E6FFDFEF7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7451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902565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Number-Placeholder-1">
            <a:extLst xmlns:a="http://schemas.openxmlformats.org/drawingml/2006/main">
              <a:ext uri="{FF2B5EF4-FFF2-40B4-BE49-F238E27FC236}">
                <a16:creationId xmlns:a16="http://schemas.microsoft.com/office/drawing/2014/main" id="{DC449D16-B058-4C75-8371-14F1641E4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t>08</a:t>
            </a:r>
          </a:p>
        </p:txBody>
      </p:sp>
      <p:sp>
        <p:nvSpPr>
          <p:cNvPr id="3" name="Title-2">
            <a:extLst xmlns:a="http://schemas.openxmlformats.org/drawingml/2006/main">
              <a:ext uri="{FF2B5EF4-FFF2-40B4-BE49-F238E27FC236}">
                <a16:creationId xmlns:a16="http://schemas.microsoft.com/office/drawing/2014/main" id="{045D9E91-5343-4125-8A12-82155947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3914775" cy="695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6580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500"/>
              </a:spcAft>
              <a:buNone/>
              <a:defRPr sz="2925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live demo proves the complete user journey.</a:t>
            </a:r>
          </a:p>
        </p:txBody>
      </p:sp>
      <p:sp>
        <p:nvSpPr>
          <p:cNvPr id="4" name="Title-2">
            <a:extLst xmlns:a="http://schemas.openxmlformats.org/drawingml/2006/main">
              <a:ext uri="{FF2B5EF4-FFF2-40B4-BE49-F238E27FC236}">
                <a16:creationId xmlns:a16="http://schemas.microsoft.com/office/drawing/2014/main" id="{059E7D5E-0509-4ED0-A4A4-BB780E01F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28825"/>
            <a:ext cx="5534025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900"/>
              </a:spcAft>
              <a:buNone/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Sign in with the demo account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900"/>
              </a:spcAft>
              <a:buNone/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Search “chicken” recipes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900"/>
              </a:spcAft>
              <a:buNone/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Open ingredients and directions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900"/>
              </a:spcAft>
              <a:buNone/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Assign a meal to Wednesday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900"/>
              </a:spcAft>
              <a:buNone/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Replace or remove a planned meal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0"/>
              </a:spcAft>
              <a:buNone/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Show the mobile layout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dfbbd2bf9a49c1"/>
          <a:srcRect xmlns:a="http://schemas.openxmlformats.org/drawingml/2006/main" l="14714" t="0" r="1471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72350" y="28575"/>
            <a:ext cx="4819650" cy="6829425"/>
          </a:xfrm>
          <a:prstGeom xmlns:a="http://schemas.openxmlformats.org/drawingml/2006/main" prst="rect">
            <a:avLst/>
          </a:prstGeom>
        </p:spPr>
      </p:pic>
      <p:sp>
        <p:nvSpPr>
          <p:cNvPr id="6" name="PlatePilot brand accent">
            <a:extLst xmlns:a="http://schemas.openxmlformats.org/drawingml/2006/main">
              <a:ext uri="{FF2B5EF4-FFF2-40B4-BE49-F238E27FC236}">
                <a16:creationId xmlns:a16="http://schemas.microsoft.com/office/drawing/2014/main" id="{7D0215F0-2A08-4071-8386-AB7DDD0E1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74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72ECBF-9E4A-4CEC-A97E-D82FBFC12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43675"/>
            <a:ext cx="2238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Recipe imagery via TheMealDB</a:t>
            </a:r>
          </a:p>
        </p:txBody>
      </p:sp>
    </p:spTree>
    <p:extLst>
      <p:ext uri="{BB962C8B-B14F-4D97-AF65-F5344CB8AC3E}">
        <p14:creationId xmlns:p14="http://schemas.microsoft.com/office/powerpoint/2010/main" val="7509852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">
            <a:extLst xmlns:a="http://schemas.openxmlformats.org/drawingml/2006/main">
              <a:ext uri="{FF2B5EF4-FFF2-40B4-BE49-F238E27FC236}">
                <a16:creationId xmlns:a16="http://schemas.microsoft.com/office/drawing/2014/main" id="{382FDC39-BFA8-42AF-BDCA-24A6ABFEF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ctr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t>09</a:t>
            </a:r>
          </a:p>
        </p:txBody>
      </p:sp>
      <p:sp>
        <p:nvSpPr>
          <p:cNvPr id="2" name="Google-Shape-533-p58">
            <a:extLst xmlns:a="http://schemas.openxmlformats.org/drawingml/2006/main">
              <a:ext uri="{FF2B5EF4-FFF2-40B4-BE49-F238E27FC236}">
                <a16:creationId xmlns:a16="http://schemas.microsoft.com/office/drawing/2014/main" id="{FDA7C124-2691-4E9F-AA78-2020847D2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500"/>
              </a:spcAft>
              <a:buNone/>
              <a:defRPr sz="2925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JSON API is simple to inspect and easy to explain.</a:t>
            </a:r>
          </a:p>
        </p:txBody>
      </p:sp>
      <p:graphicFrame>
        <p:nvGraphicFramePr>
          <p:cNvPr id="7" name="Google-Shape-644-p93"/>
          <p:cNvGraphicFramePr/>
          <p:nvPr/>
        </p:nvGraphicFramePr>
        <p:xfrm>
          <a:off xmlns:a="http://schemas.openxmlformats.org/drawingml/2006/main" x="390525" y="2371725"/>
          <a:ext xmlns:a="http://schemas.openxmlformats.org/drawingml/2006/main" cx="11401425" cy="34956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81125"/>
                <a:gridCol w="2857500"/>
                <a:gridCol w="1381125"/>
                <a:gridCol w="3857625"/>
                <a:gridCol w="1924050"/>
              </a:tblGrid>
              <a:tr h="436959">
                <a:tc>
                  <a:txBody>
                    <a:bodyPr/>
                    <a:lstStyle/>
                    <a:p>
                      <a:r>
                        <a:t>Method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Endpoint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Auth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Purpose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Postman</a:t>
                      </a:r>
                    </a:p>
                  </a:txBody>
                  <a:tcPr marL="91440" marR="91440" marT="45720" marB="45720"/>
                </a:tc>
              </a:tr>
              <a:tr h="436959">
                <a:tc>
                  <a:txBody>
                    <a:bodyPr/>
                    <a:lstStyle/>
                    <a:p>
                      <a:r>
                        <a:t>GET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/health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Public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Service health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91440" marR="91440" marT="45720" marB="45720"/>
                </a:tc>
              </a:tr>
              <a:tr h="436959">
                <a:tc>
                  <a:txBody>
                    <a:bodyPr/>
                    <a:lstStyle/>
                    <a:p>
                      <a:r>
                        <a:t>GET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/recipes?search=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Public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TheMealDB search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91440" marR="91440" marT="45720" marB="45720"/>
                </a:tc>
              </a:tr>
              <a:tr h="436959">
                <a:tc>
                  <a:txBody>
                    <a:bodyPr/>
                    <a:lstStyle/>
                    <a:p>
                      <a:r>
                        <a:t>GET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/recipes/:id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Public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Recipe detail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</a:p>
                  </a:txBody>
                  <a:tcPr marL="91440" marR="91440" marT="45720" marB="45720"/>
                </a:tc>
              </a:tr>
              <a:tr h="436959">
                <a:tc>
                  <a:txBody>
                    <a:bodyPr/>
                    <a:lstStyle/>
                    <a:p>
                      <a:r>
                        <a:t>POST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/auth/google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Public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OAuth sign-in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</a:p>
                  </a:txBody>
                  <a:tcPr marL="91440" marR="91440" marT="45720" marB="45720"/>
                </a:tc>
              </a:tr>
              <a:tr h="436959">
                <a:tc>
                  <a:txBody>
                    <a:bodyPr/>
                    <a:lstStyle/>
                    <a:p>
                      <a:r>
                        <a:t>POST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/auth/register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Public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Verification email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</a:p>
                  </a:txBody>
                  <a:tcPr marL="91440" marR="91440" marT="45720" marB="45720"/>
                </a:tc>
              </a:tr>
              <a:tr h="436959">
                <a:tc>
                  <a:txBody>
                    <a:bodyPr/>
                    <a:lstStyle/>
                    <a:p>
                      <a:r>
                        <a:t>GET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/meal-plans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JWT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Read the week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 marL="91440" marR="91440" marT="45720" marB="45720"/>
                </a:tc>
              </a:tr>
              <a:tr h="436959">
                <a:tc>
                  <a:txBody>
                    <a:bodyPr/>
                    <a:lstStyle/>
                    <a:p>
                      <a:r>
                        <a:t>PUT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/meal-plans/:day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JWT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Assign a recipe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4" name="PlatePilot brand accent">
            <a:extLst xmlns:a="http://schemas.openxmlformats.org/drawingml/2006/main">
              <a:ext uri="{FF2B5EF4-FFF2-40B4-BE49-F238E27FC236}">
                <a16:creationId xmlns:a16="http://schemas.microsoft.com/office/drawing/2014/main" id="{F58AEBF2-9B9B-4CF0-BD0F-ACEE53045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7451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1921642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-Placeholder-3">
            <a:extLst xmlns:a="http://schemas.openxmlformats.org/drawingml/2006/main">
              <a:ext uri="{FF2B5EF4-FFF2-40B4-BE49-F238E27FC236}">
                <a16:creationId xmlns:a16="http://schemas.microsoft.com/office/drawing/2014/main" id="{A59A85A9-511A-4010-8E0D-A834B257E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t>10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A87A0809-BA32-463D-9E54-0604AA90B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500"/>
              </a:spcAft>
              <a:buNone/>
              <a:defRPr sz="2925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Verification keeps the demo fast, safe, and repeatable.</a:t>
            </a:r>
          </a:p>
        </p:txBody>
      </p:sp>
      <p:sp>
        <p:nvSpPr>
          <p:cNvPr id="3" name="Rounded-Rectangle-4">
            <a:extLst xmlns:a="http://schemas.openxmlformats.org/drawingml/2006/main">
              <a:ext uri="{FF2B5EF4-FFF2-40B4-BE49-F238E27FC236}">
                <a16:creationId xmlns:a16="http://schemas.microsoft.com/office/drawing/2014/main" id="{01DBBCBA-7705-444B-BEDC-02A4D26D6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28825"/>
            <a:ext cx="3571875" cy="3962400"/>
          </a:xfrm>
          <a:prstGeom xmlns:a="http://schemas.openxmlformats.org/drawingml/2006/main" prst="roundRect">
            <a:avLst>
              <a:gd name="adj" fmla="val 2133"/>
            </a:avLst>
          </a:prstGeom>
          <a:solidFill xmlns:a="http://schemas.openxmlformats.org/drawingml/2006/main">
            <a:schemeClr val="bg2"/>
          </a:solidFill>
        </p:spPr>
      </p:sp>
      <p:sp>
        <p:nvSpPr>
          <p:cNvPr id="4" name="Content-Placeholder-8">
            <a:extLst xmlns:a="http://schemas.openxmlformats.org/drawingml/2006/main">
              <a:ext uri="{FF2B5EF4-FFF2-40B4-BE49-F238E27FC236}">
                <a16:creationId xmlns:a16="http://schemas.microsoft.com/office/drawing/2014/main" id="{41B17191-5093-420D-B55A-48CBAE88E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14575"/>
            <a:ext cx="3067050" cy="2038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500"/>
              </a:spcAft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Automated API checks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500"/>
              </a:spcAft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Health, validation, route protection, recipe fallback, and OpenAPI.</a:t>
            </a:r>
          </a:p>
        </p:txBody>
      </p:sp>
      <p:sp>
        <p:nvSpPr>
          <p:cNvPr id="5" name="Content-Placeholder-8">
            <a:extLst xmlns:a="http://schemas.openxmlformats.org/drawingml/2006/main">
              <a:ext uri="{FF2B5EF4-FFF2-40B4-BE49-F238E27FC236}">
                <a16:creationId xmlns:a16="http://schemas.microsoft.com/office/drawing/2014/main" id="{AB61F89B-45D3-439D-A5D3-7B8E3FD3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81550"/>
            <a:ext cx="3067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500"/>
              </a:spcAft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Arial"/>
                <a:ea typeface="Arial"/>
                <a:cs typeface="Arial"/>
              </a:rPr>
              <a:t>JEST + SUPERTEST</a:t>
            </a:r>
          </a:p>
        </p:txBody>
      </p:sp>
      <p:sp>
        <p:nvSpPr>
          <p:cNvPr id="6" name="Content-Placeholder-8">
            <a:extLst xmlns:a="http://schemas.openxmlformats.org/drawingml/2006/main">
              <a:ext uri="{FF2B5EF4-FFF2-40B4-BE49-F238E27FC236}">
                <a16:creationId xmlns:a16="http://schemas.microsoft.com/office/drawing/2014/main" id="{6DBA6D88-A4B1-4D6C-9E0F-25E10F762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86375"/>
            <a:ext cx="1704975" cy="485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500"/>
              </a:spcAft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EE7451"/>
                </a:solidFill>
                <a:latin typeface="Arial"/>
                <a:ea typeface="Arial"/>
                <a:cs typeface="Arial"/>
              </a:rPr>
              <a:t>6 / 6</a:t>
            </a:r>
          </a:p>
        </p:txBody>
      </p:sp>
      <p:sp>
        <p:nvSpPr>
          <p:cNvPr id="7" name="Content-Placeholder-8">
            <a:extLst xmlns:a="http://schemas.openxmlformats.org/drawingml/2006/main">
              <a:ext uri="{FF2B5EF4-FFF2-40B4-BE49-F238E27FC236}">
                <a16:creationId xmlns:a16="http://schemas.microsoft.com/office/drawing/2014/main" id="{A34CF2E5-EC0B-4B7A-976A-8BA448238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5429250"/>
            <a:ext cx="136207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500"/>
              </a:spcAft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passing</a:t>
            </a:r>
          </a:p>
        </p:txBody>
      </p:sp>
      <p:sp>
        <p:nvSpPr>
          <p:cNvPr id="8" name="Rounded-Rectangle-1">
            <a:extLst xmlns:a="http://schemas.openxmlformats.org/drawingml/2006/main">
              <a:ext uri="{FF2B5EF4-FFF2-40B4-BE49-F238E27FC236}">
                <a16:creationId xmlns:a16="http://schemas.microsoft.com/office/drawing/2014/main" id="{032A4A85-4EE3-4F24-AAEA-8AFE633D2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28825"/>
            <a:ext cx="3571875" cy="3962400"/>
          </a:xfrm>
          <a:prstGeom xmlns:a="http://schemas.openxmlformats.org/drawingml/2006/main" prst="roundRect">
            <a:avLst>
              <a:gd name="adj" fmla="val 2133"/>
            </a:avLst>
          </a:prstGeom>
          <a:solidFill xmlns:a="http://schemas.openxmlformats.org/drawingml/2006/main">
            <a:schemeClr val="bg2"/>
          </a:solidFill>
        </p:spPr>
      </p:sp>
      <p:sp>
        <p:nvSpPr>
          <p:cNvPr id="9" name="Content-Placeholder-8">
            <a:extLst xmlns:a="http://schemas.openxmlformats.org/drawingml/2006/main">
              <a:ext uri="{FF2B5EF4-FFF2-40B4-BE49-F238E27FC236}">
                <a16:creationId xmlns:a16="http://schemas.microsoft.com/office/drawing/2014/main" id="{69D22025-E7A2-44C8-83A3-363198D24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14575"/>
            <a:ext cx="3067050" cy="2038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500"/>
              </a:spcAft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Lighthouse gate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500"/>
              </a:spcAft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Desktop and mobile performance, accessibility, best practices, and SEO.</a:t>
            </a:r>
          </a:p>
        </p:txBody>
      </p:sp>
      <p:sp>
        <p:nvSpPr>
          <p:cNvPr id="10" name="Content-Placeholder-8">
            <a:extLst xmlns:a="http://schemas.openxmlformats.org/drawingml/2006/main">
              <a:ext uri="{FF2B5EF4-FFF2-40B4-BE49-F238E27FC236}">
                <a16:creationId xmlns:a16="http://schemas.microsoft.com/office/drawing/2014/main" id="{2EE7A3EA-BCA8-4B80-A9B9-F0CA486F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781550"/>
            <a:ext cx="3067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500"/>
              </a:spcAft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Arial"/>
                <a:ea typeface="Arial"/>
                <a:cs typeface="Arial"/>
              </a:rPr>
              <a:t>FINAL DOMAIN TARGET</a:t>
            </a:r>
          </a:p>
        </p:txBody>
      </p:sp>
      <p:sp>
        <p:nvSpPr>
          <p:cNvPr id="11" name="Content-Placeholder-8">
            <a:extLst xmlns:a="http://schemas.openxmlformats.org/drawingml/2006/main">
              <a:ext uri="{FF2B5EF4-FFF2-40B4-BE49-F238E27FC236}">
                <a16:creationId xmlns:a16="http://schemas.microsoft.com/office/drawing/2014/main" id="{6F516CFF-D8EC-4179-9802-4AA539F6B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286375"/>
            <a:ext cx="1704975" cy="485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500"/>
              </a:spcAft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EE7451"/>
                </a:solidFill>
                <a:latin typeface="Arial"/>
                <a:ea typeface="Arial"/>
                <a:cs typeface="Arial"/>
              </a:rPr>
              <a:t>≥95</a:t>
            </a:r>
          </a:p>
        </p:txBody>
      </p:sp>
      <p:sp>
        <p:nvSpPr>
          <p:cNvPr id="12" name="Content-Placeholder-8">
            <a:extLst xmlns:a="http://schemas.openxmlformats.org/drawingml/2006/main">
              <a:ext uri="{FF2B5EF4-FFF2-40B4-BE49-F238E27FC236}">
                <a16:creationId xmlns:a16="http://schemas.microsoft.com/office/drawing/2014/main" id="{03ABFA19-2326-41AE-BCD1-85CF80DD8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429250"/>
            <a:ext cx="136207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500"/>
              </a:spcAft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required</a:t>
            </a:r>
          </a:p>
        </p:txBody>
      </p:sp>
      <p:sp>
        <p:nvSpPr>
          <p:cNvPr id="13" name="Rounded-Rectangle-12">
            <a:extLst xmlns:a="http://schemas.openxmlformats.org/drawingml/2006/main">
              <a:ext uri="{FF2B5EF4-FFF2-40B4-BE49-F238E27FC236}">
                <a16:creationId xmlns:a16="http://schemas.microsoft.com/office/drawing/2014/main" id="{84052205-EA27-416D-8B13-346763E3C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028825"/>
            <a:ext cx="3571875" cy="3962400"/>
          </a:xfrm>
          <a:prstGeom xmlns:a="http://schemas.openxmlformats.org/drawingml/2006/main" prst="roundRect">
            <a:avLst>
              <a:gd name="adj" fmla="val 2133"/>
            </a:avLst>
          </a:prstGeom>
          <a:solidFill xmlns:a="http://schemas.openxmlformats.org/drawingml/2006/main">
            <a:schemeClr val="bg2"/>
          </a:solidFill>
        </p:spPr>
      </p:sp>
      <p:sp>
        <p:nvSpPr>
          <p:cNvPr id="14" name="Content-Placeholder-8">
            <a:extLst xmlns:a="http://schemas.openxmlformats.org/drawingml/2006/main">
              <a:ext uri="{FF2B5EF4-FFF2-40B4-BE49-F238E27FC236}">
                <a16:creationId xmlns:a16="http://schemas.microsoft.com/office/drawing/2014/main" id="{8E13A4B7-1C70-4F81-8ABD-75F532C2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314575"/>
            <a:ext cx="3067050" cy="2038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500"/>
              </a:spcAft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Dependency review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500"/>
              </a:spcAft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Production packages checked against npm security advisories.</a:t>
            </a:r>
          </a:p>
        </p:txBody>
      </p:sp>
      <p:sp>
        <p:nvSpPr>
          <p:cNvPr id="15" name="Content-Placeholder-8">
            <a:extLst xmlns:a="http://schemas.openxmlformats.org/drawingml/2006/main">
              <a:ext uri="{FF2B5EF4-FFF2-40B4-BE49-F238E27FC236}">
                <a16:creationId xmlns:a16="http://schemas.microsoft.com/office/drawing/2014/main" id="{B35DD66E-1B14-454B-A225-B09206925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781550"/>
            <a:ext cx="3067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500"/>
              </a:spcAft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Arial"/>
                <a:ea typeface="Arial"/>
                <a:cs typeface="Arial"/>
              </a:rPr>
              <a:t>KNOWN VULNERABILITIES</a:t>
            </a:r>
          </a:p>
        </p:txBody>
      </p:sp>
      <p:sp>
        <p:nvSpPr>
          <p:cNvPr id="16" name="Content-Placeholder-8">
            <a:extLst xmlns:a="http://schemas.openxmlformats.org/drawingml/2006/main">
              <a:ext uri="{FF2B5EF4-FFF2-40B4-BE49-F238E27FC236}">
                <a16:creationId xmlns:a16="http://schemas.microsoft.com/office/drawing/2014/main" id="{46C57CD2-CB6B-4F58-8CE8-6C3E48CA2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5286375"/>
            <a:ext cx="1704975" cy="485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500"/>
              </a:spcAft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EE7451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7" name="Content-Placeholder-8">
            <a:extLst xmlns:a="http://schemas.openxmlformats.org/drawingml/2006/main">
              <a:ext uri="{FF2B5EF4-FFF2-40B4-BE49-F238E27FC236}">
                <a16:creationId xmlns:a16="http://schemas.microsoft.com/office/drawing/2014/main" id="{113D58DC-C7FB-491C-BA89-DCDD64513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429250"/>
            <a:ext cx="136207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500"/>
              </a:spcAft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npm audit</a:t>
            </a:r>
          </a:p>
        </p:txBody>
      </p:sp>
      <p:sp>
        <p:nvSpPr>
          <p:cNvPr id="18" name="PlatePilot brand accent">
            <a:extLst xmlns:a="http://schemas.openxmlformats.org/drawingml/2006/main">
              <a:ext uri="{FF2B5EF4-FFF2-40B4-BE49-F238E27FC236}">
                <a16:creationId xmlns:a16="http://schemas.microsoft.com/office/drawing/2014/main" id="{1C2F67B3-0605-4E19-B2EC-7F5E94FD0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7451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7129022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">
            <a:extLst xmlns:a="http://schemas.openxmlformats.org/drawingml/2006/main">
              <a:ext uri="{FF2B5EF4-FFF2-40B4-BE49-F238E27FC236}">
                <a16:creationId xmlns:a16="http://schemas.microsoft.com/office/drawing/2014/main" id="{CB31F313-E8FD-47D8-8E31-1BB6397C3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ctr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t>11</a:t>
            </a:r>
          </a:p>
        </p:txBody>
      </p:sp>
      <p:sp>
        <p:nvSpPr>
          <p:cNvPr id="2" name="Google-Shape-533-p58">
            <a:extLst xmlns:a="http://schemas.openxmlformats.org/drawingml/2006/main">
              <a:ext uri="{FF2B5EF4-FFF2-40B4-BE49-F238E27FC236}">
                <a16:creationId xmlns:a16="http://schemas.microsoft.com/office/drawing/2014/main" id="{B20F5BB7-A389-4A18-B6A8-81D0A0938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7839075" cy="581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500"/>
              </a:spcAft>
              <a:buNone/>
              <a:defRPr sz="2925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Constraints made the product stronger.</a:t>
            </a:r>
          </a:p>
        </p:txBody>
      </p:sp>
      <p:sp>
        <p:nvSpPr>
          <p:cNvPr id="3" name="Rounded-Rectangle-1">
            <a:extLst xmlns:a="http://schemas.openxmlformats.org/drawingml/2006/main">
              <a:ext uri="{FF2B5EF4-FFF2-40B4-BE49-F238E27FC236}">
                <a16:creationId xmlns:a16="http://schemas.microsoft.com/office/drawing/2014/main" id="{399E24ED-750F-4981-B8EA-D9C3F0B7F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28950"/>
            <a:ext cx="5534025" cy="1323975"/>
          </a:xfrm>
          <a:prstGeom xmlns:a="http://schemas.openxmlformats.org/drawingml/2006/main" prst="roundRect">
            <a:avLst>
              <a:gd name="adj" fmla="val 5755"/>
            </a:avLst>
          </a:prstGeom>
          <a:solidFill xmlns:a="http://schemas.openxmlformats.org/drawingml/2006/main">
            <a:schemeClr val="bg2"/>
          </a:solidFill>
        </p:spPr>
      </p:sp>
      <p:sp>
        <p:nvSpPr>
          <p:cNvPr id="4" name="Content-Placeholder-10">
            <a:extLst xmlns:a="http://schemas.openxmlformats.org/drawingml/2006/main">
              <a:ext uri="{FF2B5EF4-FFF2-40B4-BE49-F238E27FC236}">
                <a16:creationId xmlns:a16="http://schemas.microsoft.com/office/drawing/2014/main" id="{8AAA2DC5-BD27-47E7-AE7E-B6ED78A01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276600"/>
            <a:ext cx="49911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500"/>
              </a:spcAft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54332"/>
                </a:solidFill>
                <a:latin typeface="Arial"/>
                <a:ea typeface="Arial"/>
                <a:cs typeface="Arial"/>
              </a:rPr>
              <a:t>What went well</a:t>
            </a:r>
          </a:p>
        </p:txBody>
      </p:sp>
      <p:sp>
        <p:nvSpPr>
          <p:cNvPr id="5" name="Content-Placeholder-15">
            <a:extLst xmlns:a="http://schemas.openxmlformats.org/drawingml/2006/main">
              <a:ext uri="{FF2B5EF4-FFF2-40B4-BE49-F238E27FC236}">
                <a16:creationId xmlns:a16="http://schemas.microsoft.com/office/drawing/2014/main" id="{83CEDAEC-28C0-4E97-9F9D-352E17B85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514850"/>
            <a:ext cx="5238750" cy="981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500"/>
              </a:spcAft>
              <a:buNone/>
              <a:defRPr sz="1575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Reusable React components kept the experience consistent.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500"/>
              </a:spcAft>
              <a:buNone/>
              <a:defRPr sz="1575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Server-side recipe normalization simplified the client.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500"/>
              </a:spcAft>
              <a:buNone/>
              <a:defRPr sz="1575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Fallback recipes protect the demo from API downtime.</a:t>
            </a:r>
          </a:p>
        </p:txBody>
      </p:sp>
      <p:sp>
        <p:nvSpPr>
          <p:cNvPr id="6" name="Rounded-Rectangle-7">
            <a:extLst xmlns:a="http://schemas.openxmlformats.org/drawingml/2006/main">
              <a:ext uri="{FF2B5EF4-FFF2-40B4-BE49-F238E27FC236}">
                <a16:creationId xmlns:a16="http://schemas.microsoft.com/office/drawing/2014/main" id="{D8FA342A-A159-496D-9EDA-427595FA8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028950"/>
            <a:ext cx="5534025" cy="1323975"/>
          </a:xfrm>
          <a:prstGeom xmlns:a="http://schemas.openxmlformats.org/drawingml/2006/main" prst="roundRect">
            <a:avLst>
              <a:gd name="adj" fmla="val 5755"/>
            </a:avLst>
          </a:prstGeom>
          <a:solidFill xmlns:a="http://schemas.openxmlformats.org/drawingml/2006/main">
            <a:schemeClr val="bg2"/>
          </a:solidFill>
        </p:spPr>
      </p:sp>
      <p:sp>
        <p:nvSpPr>
          <p:cNvPr id="7" name="Content-Placeholder-10">
            <a:extLst xmlns:a="http://schemas.openxmlformats.org/drawingml/2006/main">
              <a:ext uri="{FF2B5EF4-FFF2-40B4-BE49-F238E27FC236}">
                <a16:creationId xmlns:a16="http://schemas.microsoft.com/office/drawing/2014/main" id="{A40E6E2A-0BF9-47DC-8298-4CB086FB4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276600"/>
            <a:ext cx="49911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500"/>
              </a:spcAft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EE7451"/>
                </a:solidFill>
                <a:latin typeface="Arial"/>
                <a:ea typeface="Arial"/>
                <a:cs typeface="Arial"/>
              </a:rPr>
              <a:t>What challenged us</a:t>
            </a:r>
          </a:p>
        </p:txBody>
      </p:sp>
      <p:sp>
        <p:nvSpPr>
          <p:cNvPr id="8" name="Content-Placeholder-15">
            <a:extLst xmlns:a="http://schemas.openxmlformats.org/drawingml/2006/main">
              <a:ext uri="{FF2B5EF4-FFF2-40B4-BE49-F238E27FC236}">
                <a16:creationId xmlns:a16="http://schemas.microsoft.com/office/drawing/2014/main" id="{10F72FD3-BE19-431B-A981-9802D67FA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514850"/>
            <a:ext cx="5238750" cy="981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500"/>
              </a:spcAft>
              <a:buNone/>
              <a:defRPr sz="1575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OAuth and email depend on correct production credentials.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500"/>
              </a:spcAft>
              <a:buNone/>
              <a:defRPr sz="1575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 deployment needs DNS and firewall coordination.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500"/>
              </a:spcAft>
              <a:buNone/>
              <a:defRPr sz="1575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Lighthouse tuning belongs on the final hosted domain.</a:t>
            </a:r>
          </a:p>
        </p:txBody>
      </p:sp>
      <p:sp>
        <p:nvSpPr>
          <p:cNvPr id="9" name="Content-Placeholder-15">
            <a:extLst xmlns:a="http://schemas.openxmlformats.org/drawingml/2006/main">
              <a:ext uri="{FF2B5EF4-FFF2-40B4-BE49-F238E27FC236}">
                <a16:creationId xmlns:a16="http://schemas.microsoft.com/office/drawing/2014/main" id="{EFEE00D6-E7BA-46EB-B787-E43FAA2F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401425" cy="1628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500"/>
              </a:spcAft>
              <a:buNone/>
              <a:defRPr sz="1575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What went well and what challenged us share the same root.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500"/>
              </a:spcAft>
              <a:buNone/>
              <a:defRPr sz="1575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The product had to stay presentation-ready while every external dependency remained real.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500"/>
              </a:spcAft>
              <a:buNone/>
              <a:defRPr sz="1575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That pushed us toward clear boundaries and graceful fallbacks.</a:t>
            </a:r>
          </a:p>
        </p:txBody>
      </p:sp>
      <p:sp>
        <p:nvSpPr>
          <p:cNvPr id="10" name="Content-Placeholder-15">
            <a:extLst xmlns:a="http://schemas.openxmlformats.org/drawingml/2006/main">
              <a:ext uri="{FF2B5EF4-FFF2-40B4-BE49-F238E27FC236}">
                <a16:creationId xmlns:a16="http://schemas.microsoft.com/office/drawing/2014/main" id="{76F55C81-A9CF-416F-9B0C-08EB8A7D1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1401425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500"/>
              </a:spcAft>
              <a:buNone/>
              <a:defRPr sz="1575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54332"/>
                </a:solidFill>
                <a:latin typeface="Arial"/>
                <a:ea typeface="Arial"/>
                <a:cs typeface="Arial"/>
              </a:rPr>
              <a:t>The result stays polished even when a dependency is slow.</a:t>
            </a:r>
          </a:p>
        </p:txBody>
      </p:sp>
      <p:sp>
        <p:nvSpPr>
          <p:cNvPr id="11" name="PlatePilot brand accent">
            <a:extLst xmlns:a="http://schemas.openxmlformats.org/drawingml/2006/main">
              <a:ext uri="{FF2B5EF4-FFF2-40B4-BE49-F238E27FC236}">
                <a16:creationId xmlns:a16="http://schemas.microsoft.com/office/drawing/2014/main" id="{C1E1BE9F-2869-40F6-8278-F7894B198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7451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1542328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">
            <a:extLst xmlns:a="http://schemas.openxmlformats.org/drawingml/2006/main">
              <a:ext uri="{FF2B5EF4-FFF2-40B4-BE49-F238E27FC236}">
                <a16:creationId xmlns:a16="http://schemas.microsoft.com/office/drawing/2014/main" id="{2D44F1F3-7C26-4D57-9C7B-466E1C5B0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714750"/>
            <a:ext cx="9448800" cy="2495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500"/>
              </a:spcAft>
              <a:buNone/>
              <a:defRPr sz="60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7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Questions?</a:t>
            </a:r>
          </a:p>
        </p:txBody>
      </p:sp>
      <p:sp>
        <p:nvSpPr>
          <p:cNvPr id="2" name="Subtitle-4">
            <a:extLst xmlns:a="http://schemas.openxmlformats.org/drawingml/2006/main">
              <a:ext uri="{FF2B5EF4-FFF2-40B4-BE49-F238E27FC236}">
                <a16:creationId xmlns:a16="http://schemas.microsoft.com/office/drawing/2014/main" id="{4266C8AE-7472-4C80-915C-D01DEC8A6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35814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500"/>
              </a:spcAft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EE7451"/>
                </a:solidFill>
                <a:latin typeface="Arial"/>
                <a:ea typeface="Arial"/>
                <a:cs typeface="Arial"/>
              </a:rPr>
              <a:t>PLATEPILOT</a:t>
            </a:r>
          </a:p>
        </p:txBody>
      </p:sp>
      <p:sp>
        <p:nvSpPr>
          <p:cNvPr id="3" name="Subtitle-4">
            <a:extLst xmlns:a="http://schemas.openxmlformats.org/drawingml/2006/main">
              <a:ext uri="{FF2B5EF4-FFF2-40B4-BE49-F238E27FC236}">
                <a16:creationId xmlns:a16="http://schemas.microsoft.com/office/drawing/2014/main" id="{32C58BF7-5C8D-405F-9794-B44FA81B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0525"/>
            <a:ext cx="391477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500"/>
              </a:spcAft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54332"/>
                </a:solidFill>
                <a:latin typeface="Arial"/>
                <a:ea typeface="Arial"/>
                <a:cs typeface="Arial"/>
              </a:rPr>
              <a:t>MERN · JSON · THEMEALDB</a:t>
            </a:r>
          </a:p>
        </p:txBody>
      </p:sp>
      <p:sp>
        <p:nvSpPr>
          <p:cNvPr id="4" name="PlatePilot brand accent">
            <a:extLst xmlns:a="http://schemas.openxmlformats.org/drawingml/2006/main">
              <a:ext uri="{FF2B5EF4-FFF2-40B4-BE49-F238E27FC236}">
                <a16:creationId xmlns:a16="http://schemas.microsoft.com/office/drawing/2014/main" id="{43E38EEA-F078-48E8-B29D-B10E4679D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7451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4385222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2026-07-17T04:44:44.9710000Z</dcterms:created>
  <dcterms:modified xsi:type="dcterms:W3CDTF">2026-07-17T04:44:44.9710000Z</dcterms:modified>
</coreProperties>
</file>